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3" r:id="rId1"/>
  </p:sldMasterIdLst>
  <p:sldIdLst>
    <p:sldId id="256" r:id="rId2"/>
    <p:sldId id="269" r:id="rId3"/>
    <p:sldId id="257" r:id="rId4"/>
    <p:sldId id="258" r:id="rId5"/>
    <p:sldId id="259" r:id="rId6"/>
    <p:sldId id="268" r:id="rId7"/>
    <p:sldId id="262" r:id="rId8"/>
    <p:sldId id="264" r:id="rId9"/>
    <p:sldId id="267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E947DD-7319-43BB-98C3-E85E96C336F6}" v="126" dt="2026-09-01T17:38:14.102"/>
    <p1510:client id="{31A6BF5D-5795-060E-A8C1-868F5DB974B8}" v="1" dt="2026-09-01T12:16:48.212"/>
    <p1510:client id="{4A5295D3-C6EA-288F-163B-0855A4024549}" v="266" dt="2026-09-01T16:39:15.697"/>
    <p1510:client id="{64BA7A3A-7D82-5D7C-6564-6B91203234E0}" v="212" dt="2026-09-01T18:41:14.746"/>
    <p1510:client id="{6F419083-2FED-888E-428D-30C56A2580D6}" v="601" dt="2026-09-01T14:39:16.622"/>
    <p1510:client id="{D3148B8B-8E19-3E80-B9B0-10AF4D9D9E53}" v="11" dt="2026-09-01T15:11:00.967"/>
    <p1510:client id="{E41EE26B-9207-A9B0-D554-640CAB19DB21}" v="2" dt="2026-09-01T12:56:11.963"/>
    <p1510:client id="{E926C1F3-BAE1-5B48-6DE7-36D51B24B1CE}" v="2" dt="2026-09-01T04:56:20.3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9/1/2026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787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41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593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09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36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582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882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9/1/2026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45510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89081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2532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40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258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3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4067813"/>
            <a:ext cx="2686050" cy="571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0" y="4075211"/>
            <a:ext cx="2686050" cy="57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075211"/>
            <a:ext cx="2686050" cy="571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650" y="4075211"/>
            <a:ext cx="2686050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05000" y="3311425"/>
            <a:ext cx="8382000" cy="244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Inter"/>
              </a:rPr>
              <a:t>An Integrated Explainable AI Platform for Academic Guidance, Careers, and Wellbeing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8175" y="4199036"/>
            <a:ext cx="24003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 b="1" i="0" u="none" err="1">
                <a:solidFill>
                  <a:srgbClr val="1E293B"/>
                </a:solidFill>
                <a:latin typeface="Inter"/>
              </a:rPr>
              <a:t>Rusiru</a:t>
            </a:r>
            <a:r>
              <a:rPr lang="en-US" sz="1200" b="1" i="0" u="none">
                <a:solidFill>
                  <a:srgbClr val="1E293B"/>
                </a:solidFill>
                <a:latin typeface="Inter"/>
              </a:rPr>
              <a:t> L.W.S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175" y="4380011"/>
            <a:ext cx="24003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100" b="0" i="0" u="none">
                <a:solidFill>
                  <a:srgbClr val="002060"/>
                </a:solidFill>
                <a:latin typeface="Inter"/>
              </a:rPr>
              <a:t>IT22220288 | Degree Advisor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6625" y="4199036"/>
            <a:ext cx="24003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 b="1" i="0" u="none" err="1">
                <a:solidFill>
                  <a:srgbClr val="1E293B"/>
                </a:solidFill>
                <a:latin typeface="Inter"/>
              </a:rPr>
              <a:t>Wickremathilaka</a:t>
            </a:r>
            <a:r>
              <a:rPr lang="en-US" sz="1200" b="1" i="0" u="none">
                <a:solidFill>
                  <a:srgbClr val="1E293B"/>
                </a:solidFill>
                <a:latin typeface="Inter"/>
              </a:rPr>
              <a:t> J.A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6625" y="4380011"/>
            <a:ext cx="24003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100" b="0" i="0" u="none">
                <a:solidFill>
                  <a:srgbClr val="002060"/>
                </a:solidFill>
                <a:latin typeface="Inter"/>
              </a:rPr>
              <a:t>IT22152114 | Career &amp; Skill-Gap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5075" y="4199036"/>
            <a:ext cx="24003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 b="1" i="0" u="none" err="1">
                <a:solidFill>
                  <a:srgbClr val="1E293B"/>
                </a:solidFill>
                <a:latin typeface="Inter"/>
              </a:rPr>
              <a:t>Mahikalpa</a:t>
            </a:r>
            <a:r>
              <a:rPr lang="en-US" sz="1200" b="1" i="0" u="none">
                <a:solidFill>
                  <a:srgbClr val="1E293B"/>
                </a:solidFill>
                <a:latin typeface="Inter"/>
              </a:rPr>
              <a:t> K.B.V.I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5075" y="4380011"/>
            <a:ext cx="24003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100" b="0" i="0" u="none">
                <a:solidFill>
                  <a:srgbClr val="002060"/>
                </a:solidFill>
                <a:latin typeface="Inter"/>
              </a:rPr>
              <a:t>IT22150370 | Mentorship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53525" y="4199036"/>
            <a:ext cx="24003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 b="1" i="0" u="none">
                <a:solidFill>
                  <a:srgbClr val="1E293B"/>
                </a:solidFill>
                <a:latin typeface="Inter"/>
              </a:rPr>
              <a:t>Withanage D.K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3525" y="4380011"/>
            <a:ext cx="24003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100" b="0" i="0" u="none">
                <a:solidFill>
                  <a:srgbClr val="002060"/>
                </a:solidFill>
                <a:latin typeface="Inter"/>
              </a:rPr>
              <a:t>IT22094636 | Stress &amp; Study AI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B2BEDF3-9F05-89AF-7FF6-DD1F1A851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3846" y="1124110"/>
            <a:ext cx="2980464" cy="17525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B1CEA5-4937-117B-B85C-0A18A8D051F0}"/>
              </a:ext>
            </a:extLst>
          </p:cNvPr>
          <p:cNvSpPr txBox="1"/>
          <p:nvPr/>
        </p:nvSpPr>
        <p:spPr>
          <a:xfrm>
            <a:off x="1686393" y="6284474"/>
            <a:ext cx="8382000" cy="244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lang="en-US" sz="1600" b="1">
                <a:solidFill>
                  <a:schemeClr val="tx1">
                    <a:lumMod val="85000"/>
                    <a:lumOff val="15000"/>
                  </a:schemeClr>
                </a:solidFill>
                <a:latin typeface="Inter"/>
              </a:rPr>
              <a:t>R26-IT-073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toryboard 1">
            <a:hlinkClick r:id="" action="ppaction://media"/>
            <a:extLst>
              <a:ext uri="{FF2B5EF4-FFF2-40B4-BE49-F238E27FC236}">
                <a16:creationId xmlns:a16="http://schemas.microsoft.com/office/drawing/2014/main" id="{514668C5-14A5-300F-5C78-8D8E824457A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448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198493"/>
            <a:ext cx="5515888" cy="141326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198493"/>
            <a:ext cx="5515888" cy="141326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3802260"/>
            <a:ext cx="5515888" cy="13610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3802260"/>
            <a:ext cx="5515888" cy="13610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6800" y="2717333"/>
            <a:ext cx="495061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400" b="1" i="0" u="none">
                <a:solidFill>
                  <a:srgbClr val="1E1B4B"/>
                </a:solidFill>
                <a:latin typeface="Poppins"/>
              </a:rPr>
              <a:t>1. Blind Degree Decisions</a:t>
            </a:r>
            <a:endParaRPr lang="en-US" sz="1400" b="1" i="0" u="none">
              <a:solidFill>
                <a:srgbClr val="1E1B4B"/>
              </a:solidFill>
              <a:latin typeface="Poppins"/>
              <a:cs typeface="Poppi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2475" y="3025080"/>
            <a:ext cx="50292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22"/>
              </a:lnSpc>
            </a:pPr>
            <a:r>
              <a:rPr lang="en-US" sz="1200" b="0" i="0" u="none">
                <a:solidFill>
                  <a:srgbClr val="475569"/>
                </a:solidFill>
                <a:latin typeface="Inter"/>
              </a:rPr>
              <a:t>Students pick university degrees blindly without understanding long-term career demands or Z-score requirements.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15125" y="2717333"/>
            <a:ext cx="5000625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400" b="1" i="0" u="none">
                <a:solidFill>
                  <a:srgbClr val="1E1B4B"/>
                </a:solidFill>
                <a:latin typeface="Poppins"/>
              </a:rPr>
              <a:t>2. Industry Skill Mismatch</a:t>
            </a:r>
            <a:endParaRPr lang="en-US" sz="1400" b="1" i="0" u="none">
              <a:solidFill>
                <a:srgbClr val="1E1B4B"/>
              </a:solidFill>
              <a:latin typeface="Poppins"/>
              <a:cs typeface="Poppi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8425" y="3025080"/>
            <a:ext cx="50292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22"/>
              </a:lnSpc>
            </a:pPr>
            <a:r>
              <a:rPr lang="en-US" sz="1200">
                <a:solidFill>
                  <a:srgbClr val="475569"/>
                </a:solidFill>
                <a:latin typeface="Inter"/>
              </a:rPr>
              <a:t>most </a:t>
            </a:r>
            <a:r>
              <a:rPr lang="en-US" sz="1200" b="0" i="0" u="none">
                <a:solidFill>
                  <a:srgbClr val="475569"/>
                </a:solidFill>
                <a:latin typeface="Inter"/>
              </a:rPr>
              <a:t>of</a:t>
            </a:r>
            <a:r>
              <a:rPr lang="en-US" sz="1200">
                <a:solidFill>
                  <a:srgbClr val="475569"/>
                </a:solidFill>
                <a:latin typeface="Inter"/>
              </a:rPr>
              <a:t> the</a:t>
            </a:r>
            <a:r>
              <a:rPr lang="en-US" sz="1200" b="0" i="0" u="none">
                <a:solidFill>
                  <a:srgbClr val="475569"/>
                </a:solidFill>
                <a:latin typeface="Inter"/>
              </a:rPr>
              <a:t> candidate profiles lack the exact technical competencies demanded by current </a:t>
            </a:r>
            <a:r>
              <a:rPr lang="en-US" sz="1200">
                <a:solidFill>
                  <a:srgbClr val="475569"/>
                </a:solidFill>
                <a:latin typeface="Inter"/>
              </a:rPr>
              <a:t> </a:t>
            </a:r>
            <a:r>
              <a:rPr lang="en-US" sz="1200" b="0" i="0" u="none">
                <a:solidFill>
                  <a:srgbClr val="475569"/>
                </a:solidFill>
                <a:latin typeface="Inter"/>
              </a:rPr>
              <a:t>job roles.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4018388"/>
            <a:ext cx="4950618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400" b="1" i="0" u="none">
                <a:solidFill>
                  <a:srgbClr val="1E1B4B"/>
                </a:solidFill>
                <a:latin typeface="Poppins"/>
              </a:rPr>
              <a:t>3. Unverified Mentorship</a:t>
            </a:r>
            <a:endParaRPr lang="en-US" sz="1400" b="1" i="0" u="none">
              <a:solidFill>
                <a:srgbClr val="1E1B4B"/>
              </a:solidFill>
              <a:latin typeface="Poppins"/>
              <a:cs typeface="Poppi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2475" y="4326135"/>
            <a:ext cx="50292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22"/>
              </a:lnSpc>
            </a:pPr>
            <a:r>
              <a:rPr lang="en-US" sz="1200" b="0" i="0" u="none">
                <a:solidFill>
                  <a:srgbClr val="475569"/>
                </a:solidFill>
                <a:latin typeface="Inter"/>
              </a:rPr>
              <a:t>Existing guidance channels lack credential checks, leading to unreliable and unverified career advice.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4018388"/>
            <a:ext cx="5000625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400" b="1" i="0" u="none">
                <a:solidFill>
                  <a:srgbClr val="1E1B4B"/>
                </a:solidFill>
                <a:latin typeface="Poppins"/>
              </a:rPr>
              <a:t>4. Academic Burnout &amp; Stress</a:t>
            </a:r>
            <a:endParaRPr lang="en-US" sz="1400" b="1" i="0" u="none">
              <a:solidFill>
                <a:srgbClr val="1E1B4B"/>
              </a:solidFill>
              <a:latin typeface="Poppins"/>
              <a:cs typeface="Poppi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48425" y="4326135"/>
            <a:ext cx="5029200" cy="386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522"/>
              </a:lnSpc>
            </a:pPr>
            <a:r>
              <a:rPr lang="en-US" sz="1200" b="0" i="0" u="none">
                <a:solidFill>
                  <a:srgbClr val="475569"/>
                </a:solidFill>
                <a:latin typeface="Inter"/>
              </a:rPr>
              <a:t>Students struggle with heavy exam workloads and fatigue without intelligent, personalized study balancing.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2739330"/>
            <a:ext cx="219075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2739330"/>
            <a:ext cx="1714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040385"/>
            <a:ext cx="219075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425" y="4040385"/>
            <a:ext cx="1714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5300" y="381000"/>
            <a:ext cx="9409144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E1B4B"/>
                </a:solidFill>
                <a:latin typeface="Poppins"/>
              </a:rPr>
              <a:t>Problem &amp; Student Pain Points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08" y="1651041"/>
            <a:ext cx="5434209" cy="364241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990" y="1603414"/>
            <a:ext cx="5486400" cy="36462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2205290"/>
            <a:ext cx="498062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GB" sz="1600" b="1" i="0" u="none">
                <a:solidFill>
                  <a:srgbClr val="4F46E5"/>
                </a:solidFill>
                <a:latin typeface="Poppins"/>
              </a:rPr>
              <a:t>Existing Tools Limitation</a:t>
            </a:r>
            <a:endParaRPr lang="en-GB" sz="1600" b="1" i="0" u="none">
              <a:solidFill>
                <a:srgbClr val="4F46E5"/>
              </a:solidFill>
              <a:latin typeface="Poppins"/>
              <a:cs typeface="Poppi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96539" y="2086751"/>
            <a:ext cx="4980622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GB" sz="1600" b="1">
                <a:solidFill>
                  <a:srgbClr val="4F46E5"/>
                </a:solidFill>
                <a:latin typeface="Poppins"/>
              </a:rPr>
              <a:t>StudiFyX</a:t>
            </a:r>
            <a:r>
              <a:rPr lang="en-GB" sz="1600" b="1" i="0" u="none">
                <a:solidFill>
                  <a:srgbClr val="4F46E5"/>
                </a:solidFill>
                <a:latin typeface="Poppins"/>
              </a:rPr>
              <a:t> Objectives</a:t>
            </a:r>
            <a:endParaRPr lang="en-GB" sz="1600" b="1" i="0" u="none">
              <a:solidFill>
                <a:srgbClr val="4F46E5"/>
              </a:solidFill>
              <a:latin typeface="Poppins"/>
              <a:cs typeface="Poppi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0125" y="2963287"/>
            <a:ext cx="4743450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n-US" sz="1400" b="1" i="0" u="none">
                <a:solidFill>
                  <a:srgbClr val="334155"/>
                </a:solidFill>
                <a:latin typeface="Inter"/>
              </a:rPr>
              <a:t>Siloed Systems:</a:t>
            </a:r>
            <a:r>
              <a:rPr lang="en-US" sz="1400" b="0" i="0" u="none">
                <a:solidFill>
                  <a:srgbClr val="334155"/>
                </a:solidFill>
                <a:latin typeface="Inter"/>
              </a:rPr>
              <a:t> Degree tools, job boards, and calendars operate in complete isolation.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509250"/>
            <a:ext cx="474345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76"/>
              </a:lnSpc>
            </a:pPr>
            <a:r>
              <a:rPr lang="en-US" sz="1500" b="1">
                <a:solidFill>
                  <a:srgbClr val="334155"/>
                </a:solidFill>
                <a:latin typeface="Inter"/>
                <a:ea typeface="Calibri"/>
                <a:cs typeface="Calibri"/>
              </a:rPr>
              <a:t>Unquantified</a:t>
            </a:r>
            <a:r>
              <a:rPr lang="en-US" sz="1500" b="1">
                <a:solidFill>
                  <a:srgbClr val="334155"/>
                </a:solidFill>
                <a:latin typeface="Inter"/>
                <a:ea typeface="+mn-lt"/>
                <a:cs typeface="+mn-lt"/>
              </a:rPr>
              <a:t> Skill Deficiencies</a:t>
            </a:r>
            <a:r>
              <a:rPr lang="en-US" sz="1400" b="1">
                <a:solidFill>
                  <a:srgbClr val="334155"/>
                </a:solidFill>
                <a:latin typeface="Inter"/>
                <a:ea typeface="Calibri"/>
                <a:cs typeface="Calibri"/>
              </a:rPr>
              <a:t>:</a:t>
            </a:r>
            <a:r>
              <a:rPr lang="en-US" sz="1400">
                <a:solidFill>
                  <a:srgbClr val="334155"/>
                </a:solidFill>
                <a:latin typeface="Inter"/>
                <a:ea typeface="Calibri"/>
                <a:cs typeface="Calibri"/>
              </a:rPr>
              <a:t> </a:t>
            </a:r>
            <a:r>
              <a:rPr lang="en-US" sz="1400">
                <a:solidFill>
                  <a:srgbClr val="334155"/>
                </a:solidFill>
                <a:latin typeface="Inter"/>
                <a:ea typeface="+mn-lt"/>
                <a:cs typeface="+mn-lt"/>
              </a:rPr>
              <a:t>Standard job matching platforms fail to analyze </a:t>
            </a:r>
            <a:r>
              <a:rPr lang="en-US" sz="1400" b="0" i="0" u="none">
                <a:solidFill>
                  <a:srgbClr val="334155"/>
                </a:solidFill>
                <a:latin typeface="Inter"/>
                <a:ea typeface="+mn-lt"/>
                <a:cs typeface="+mn-lt"/>
              </a:rPr>
              <a:t>or </a:t>
            </a:r>
            <a:r>
              <a:rPr lang="en-US" sz="1400">
                <a:solidFill>
                  <a:srgbClr val="334155"/>
                </a:solidFill>
                <a:latin typeface="Inter"/>
                <a:ea typeface="+mn-lt"/>
                <a:cs typeface="+mn-lt"/>
              </a:rPr>
              <a:t>measure the exact skill gaps between a user's current competencies and industry standards</a:t>
            </a:r>
            <a:r>
              <a:rPr lang="en-US" sz="1400" b="0" i="0" u="none">
                <a:solidFill>
                  <a:srgbClr val="334155"/>
                </a:solidFill>
                <a:latin typeface="Inter"/>
                <a:ea typeface="+mn-lt"/>
                <a:cs typeface="+mn-lt"/>
              </a:rPr>
              <a:t>.</a:t>
            </a:r>
            <a:endParaRPr lang="en-US" sz="1400">
              <a:solidFill>
                <a:srgbClr val="334155"/>
              </a:solidFill>
              <a:latin typeface="Inter"/>
              <a:ea typeface="+mn-lt"/>
              <a:cs typeface="+mn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0125" y="4483186"/>
            <a:ext cx="4743450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sz="1400" b="1" i="0" u="none">
                <a:solidFill>
                  <a:srgbClr val="334155"/>
                </a:solidFill>
                <a:latin typeface="Inter"/>
              </a:rPr>
              <a:t>Zero Verification:</a:t>
            </a:r>
            <a:r>
              <a:rPr sz="1400" b="0" i="0" u="none">
                <a:solidFill>
                  <a:srgbClr val="334155"/>
                </a:solidFill>
                <a:latin typeface="Inter"/>
              </a:rPr>
              <a:t> No automated CV/certificate auditing for career mentors.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2660575"/>
            <a:ext cx="4743450" cy="205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n-GB" sz="1400" b="1" i="0" u="none">
                <a:solidFill>
                  <a:srgbClr val="334155"/>
                </a:solidFill>
                <a:latin typeface="Inter"/>
              </a:rPr>
              <a:t>Backward Chaining:</a:t>
            </a:r>
            <a:r>
              <a:rPr lang="en-GB" sz="1400" b="0" i="0" u="none">
                <a:solidFill>
                  <a:srgbClr val="334155"/>
                </a:solidFill>
                <a:latin typeface="Inter"/>
              </a:rPr>
              <a:t> Map degrees directly from dream job goals.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3236008"/>
            <a:ext cx="474345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576"/>
              </a:lnSpc>
            </a:pPr>
            <a:r>
              <a:rPr lang="en-US" sz="1400" b="1" i="0" u="none">
                <a:solidFill>
                  <a:srgbClr val="334155"/>
                </a:solidFill>
                <a:latin typeface="Inter"/>
                <a:ea typeface="+mn-lt"/>
                <a:cs typeface="+mn-lt"/>
              </a:rPr>
              <a:t>Skill-Gap </a:t>
            </a:r>
            <a:r>
              <a:rPr lang="en-US" sz="1400" b="1">
                <a:solidFill>
                  <a:srgbClr val="334155"/>
                </a:solidFill>
                <a:latin typeface="Inter"/>
                <a:ea typeface="+mn-lt"/>
                <a:cs typeface="+mn-lt"/>
              </a:rPr>
              <a:t>Analyzer </a:t>
            </a:r>
            <a:r>
              <a:rPr lang="en-US" sz="1400" b="1" i="0" u="none">
                <a:solidFill>
                  <a:srgbClr val="334155"/>
                </a:solidFill>
                <a:latin typeface="Inter"/>
                <a:ea typeface="+mn-lt"/>
                <a:cs typeface="+mn-lt"/>
              </a:rPr>
              <a:t>(SGI</a:t>
            </a:r>
            <a:r>
              <a:rPr lang="en-US" sz="1400" b="1">
                <a:solidFill>
                  <a:srgbClr val="334155"/>
                </a:solidFill>
                <a:latin typeface="Inter"/>
                <a:ea typeface="+mn-lt"/>
                <a:cs typeface="+mn-lt"/>
              </a:rPr>
              <a:t>):</a:t>
            </a:r>
            <a:r>
              <a:rPr lang="en-US" sz="1400" b="0" i="0" u="none">
                <a:solidFill>
                  <a:srgbClr val="334155"/>
                </a:solidFill>
                <a:latin typeface="Inter"/>
              </a:rPr>
              <a:t> </a:t>
            </a:r>
            <a:r>
              <a:rPr lang="en-US" sz="1400">
                <a:solidFill>
                  <a:srgbClr val="334155"/>
                </a:solidFill>
                <a:latin typeface="Inter"/>
                <a:ea typeface="+mn-lt"/>
                <a:cs typeface="+mn-lt"/>
              </a:rPr>
              <a:t>Quantifies the semantic </a:t>
            </a:r>
            <a:r>
              <a:rPr lang="en-US" sz="1400" b="0" i="0" u="none">
                <a:solidFill>
                  <a:srgbClr val="334155"/>
                </a:solidFill>
                <a:latin typeface="Inter"/>
                <a:ea typeface="+mn-lt"/>
                <a:cs typeface="+mn-lt"/>
              </a:rPr>
              <a:t>distance </a:t>
            </a:r>
            <a:r>
              <a:rPr lang="en-US" sz="1400">
                <a:solidFill>
                  <a:srgbClr val="334155"/>
                </a:solidFill>
                <a:latin typeface="Inter"/>
                <a:ea typeface="+mn-lt"/>
                <a:cs typeface="+mn-lt"/>
              </a:rPr>
              <a:t>between the candidate profile </a:t>
            </a:r>
            <a:r>
              <a:rPr lang="en-US" sz="1400" b="0" i="0" u="none">
                <a:solidFill>
                  <a:srgbClr val="334155"/>
                </a:solidFill>
                <a:latin typeface="Inter"/>
                <a:ea typeface="+mn-lt"/>
                <a:cs typeface="+mn-lt"/>
              </a:rPr>
              <a:t>and </a:t>
            </a:r>
            <a:r>
              <a:rPr lang="en-US" sz="1400">
                <a:solidFill>
                  <a:srgbClr val="334155"/>
                </a:solidFill>
                <a:latin typeface="Inter"/>
                <a:ea typeface="+mn-lt"/>
                <a:cs typeface="+mn-lt"/>
              </a:rPr>
              <a:t>target industry role to generate a personalized learning roadmap</a:t>
            </a:r>
            <a:r>
              <a:rPr lang="en-US" sz="1400" b="0" i="0" u="none">
                <a:solidFill>
                  <a:srgbClr val="334155"/>
                </a:solidFill>
                <a:latin typeface="Inter"/>
                <a:ea typeface="+mn-lt"/>
                <a:cs typeface="+mn-lt"/>
              </a:rPr>
              <a:t>.</a:t>
            </a:r>
            <a:r>
              <a:rPr lang="en-US" sz="1400">
                <a:solidFill>
                  <a:srgbClr val="334155"/>
                </a:solidFill>
                <a:latin typeface="Inter"/>
                <a:ea typeface="+mn-lt"/>
                <a:cs typeface="+mn-lt"/>
              </a:rPr>
              <a:t> </a:t>
            </a:r>
            <a:endParaRPr lang="en-US" sz="1400"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15125" y="4124591"/>
            <a:ext cx="4743450" cy="205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n-GB" sz="1400" b="1" i="0" u="none">
                <a:solidFill>
                  <a:srgbClr val="334155"/>
                </a:solidFill>
                <a:latin typeface="Inter"/>
              </a:rPr>
              <a:t>Automated Verification:</a:t>
            </a:r>
            <a:r>
              <a:rPr lang="en-GB" sz="1400" b="0" i="0" u="none">
                <a:solidFill>
                  <a:srgbClr val="334155"/>
                </a:solidFill>
                <a:latin typeface="Inter"/>
              </a:rPr>
              <a:t> OCR CV analysis and structured scoring.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4626956"/>
            <a:ext cx="4743450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n-GB" sz="1400" b="1" i="0" u="none">
                <a:solidFill>
                  <a:srgbClr val="334155"/>
                </a:solidFill>
                <a:latin typeface="Inter"/>
              </a:rPr>
              <a:t>Bio-Adaptive Schedule:</a:t>
            </a:r>
            <a:r>
              <a:rPr lang="en-GB" sz="1400" b="0" i="0" u="none">
                <a:solidFill>
                  <a:srgbClr val="334155"/>
                </a:solidFill>
                <a:latin typeface="Inter"/>
              </a:rPr>
              <a:t> Smart study plans balancing stress and fatigue.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2960547"/>
            <a:ext cx="10477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3506510"/>
            <a:ext cx="10477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4480446"/>
            <a:ext cx="10477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2657834"/>
            <a:ext cx="12382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9302" y="3233267"/>
            <a:ext cx="12382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4163605"/>
            <a:ext cx="12382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4686845"/>
            <a:ext cx="123825" cy="142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95300" y="611223"/>
            <a:ext cx="9409144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E1B4B"/>
                </a:solidFill>
                <a:latin typeface="Poppins"/>
              </a:rPr>
              <a:t>Research Gap &amp; Project 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BD2F38-FF24-25D3-9232-42A279108C97}"/>
              </a:ext>
            </a:extLst>
          </p:cNvPr>
          <p:cNvSpPr txBox="1"/>
          <p:nvPr/>
        </p:nvSpPr>
        <p:spPr>
          <a:xfrm>
            <a:off x="221356" y="181307"/>
            <a:ext cx="62143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u="none">
                <a:solidFill>
                  <a:srgbClr val="4F46E5"/>
                </a:solidFill>
                <a:latin typeface="Inter"/>
              </a:rPr>
              <a:t>R26-IT-073 • PROBLEM &amp; IMPACT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56" y="2810633"/>
            <a:ext cx="2864371" cy="195976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3750" y="2821072"/>
            <a:ext cx="2686050" cy="195976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831510"/>
            <a:ext cx="2686050" cy="195976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650" y="2852386"/>
            <a:ext cx="2686050" cy="1959768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2927151"/>
            <a:ext cx="419100" cy="4191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7225" y="3479601"/>
            <a:ext cx="248031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u="none">
                <a:solidFill>
                  <a:srgbClr val="0F172A"/>
                </a:solidFill>
                <a:latin typeface="Poppins"/>
              </a:rPr>
              <a:t>1. Dream Degree Advisor</a:t>
            </a:r>
            <a:endParaRPr lang="en-US" sz="140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7225" y="3793926"/>
            <a:ext cx="2362200" cy="718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364"/>
              </a:lnSpc>
            </a:pPr>
            <a:r>
              <a:rPr lang="en-US" sz="1200" b="0" i="0" u="none">
                <a:solidFill>
                  <a:srgbClr val="475569"/>
                </a:solidFill>
                <a:latin typeface="Inter"/>
              </a:rPr>
              <a:t>Backward-chains from student dream goals, A/L results, and Z-scores to recommend optimal degrees and universities.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5675" y="2927151"/>
            <a:ext cx="419100" cy="4191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495675" y="3380507"/>
            <a:ext cx="248031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400" b="1" i="0" u="none">
                <a:solidFill>
                  <a:srgbClr val="0F172A"/>
                </a:solidFill>
                <a:latin typeface="Poppins"/>
              </a:rPr>
              <a:t>2. </a:t>
            </a:r>
            <a:r>
              <a:rPr lang="en-US" sz="1400" b="1">
                <a:solidFill>
                  <a:srgbClr val="0F172A"/>
                </a:solidFill>
                <a:latin typeface="Poppins"/>
              </a:rPr>
              <a:t>Career path </a:t>
            </a:r>
            <a:r>
              <a:rPr lang="en-US" sz="1400" b="1" i="0" u="none">
                <a:solidFill>
                  <a:srgbClr val="0F172A"/>
                </a:solidFill>
                <a:latin typeface="Poppins"/>
              </a:rPr>
              <a:t>&amp; Skill-Gap</a:t>
            </a:r>
            <a:br>
              <a:rPr lang="en-US" sz="1400" b="1" i="0" u="none">
                <a:solidFill>
                  <a:srgbClr val="0F172A"/>
                </a:solidFill>
                <a:latin typeface="Poppins"/>
              </a:rPr>
            </a:br>
            <a:r>
              <a:rPr lang="en-US" sz="1400" b="1" i="0" u="none">
                <a:solidFill>
                  <a:srgbClr val="0F172A"/>
                </a:solidFill>
                <a:latin typeface="Poppins"/>
              </a:rPr>
              <a:t>Analyzer</a:t>
            </a:r>
            <a:endParaRPr lang="en-US" sz="140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95675" y="3793926"/>
            <a:ext cx="2362200" cy="718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364"/>
              </a:lnSpc>
            </a:pPr>
            <a:r>
              <a:rPr lang="en-US" sz="1200" b="0" i="0" u="none">
                <a:solidFill>
                  <a:srgbClr val="475569"/>
                </a:solidFill>
                <a:latin typeface="Inter"/>
              </a:rPr>
              <a:t>Calculates real-time Skill-Gap Index (SGI) using ML ensembles and Neo4j graph ontology for prescriptive roadmaps.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4125" y="2927151"/>
            <a:ext cx="419100" cy="4191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34125" y="3479601"/>
            <a:ext cx="248031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u="none">
                <a:solidFill>
                  <a:srgbClr val="0F172A"/>
                </a:solidFill>
                <a:latin typeface="Poppins"/>
              </a:rPr>
              <a:t>3. Mentor Hub &amp; Network</a:t>
            </a:r>
            <a:endParaRPr lang="en-US" sz="140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34125" y="3793926"/>
            <a:ext cx="2362200" cy="718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364"/>
              </a:lnSpc>
            </a:pPr>
            <a:r>
              <a:rPr lang="en-US" sz="1200" b="0" i="0" u="none">
                <a:solidFill>
                  <a:srgbClr val="475569"/>
                </a:solidFill>
                <a:latin typeface="Inter"/>
              </a:rPr>
              <a:t>Verifies mentors via OCR CV parsing, automated interview evaluation, and assigns Bronze/Silver/Gold trust badges.</a:t>
            </a:r>
            <a:endParaRPr lang="en-US" sz="1200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2575" y="2927151"/>
            <a:ext cx="419100" cy="4191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172575" y="3479601"/>
            <a:ext cx="248031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u="none">
                <a:solidFill>
                  <a:srgbClr val="0F172A"/>
                </a:solidFill>
                <a:latin typeface="Poppins"/>
              </a:rPr>
              <a:t>4. Cognitive Wellbeing AI</a:t>
            </a:r>
            <a:endParaRPr lang="en-US" sz="140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72575" y="3793926"/>
            <a:ext cx="2362200" cy="718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364"/>
              </a:lnSpc>
            </a:pPr>
            <a:r>
              <a:rPr lang="en-US" sz="1200" b="0" i="0" u="none">
                <a:solidFill>
                  <a:srgbClr val="475569"/>
                </a:solidFill>
                <a:latin typeface="Inter"/>
              </a:rPr>
              <a:t>Monitors student workload and fatigue using Random Forest AI to dynamically schedule adaptive study sessions.</a:t>
            </a:r>
            <a:endParaRPr lang="en-US" sz="1200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087" y="3041451"/>
            <a:ext cx="200938" cy="1905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86162" y="3041451"/>
            <a:ext cx="238125" cy="1905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8425" y="3041451"/>
            <a:ext cx="190500" cy="1905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86875" y="3041451"/>
            <a:ext cx="190500" cy="190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95300" y="381000"/>
            <a:ext cx="9409144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E1B4B"/>
                </a:solidFill>
                <a:latin typeface="Poppins"/>
              </a:rPr>
              <a:t>The Four Core Pillars of </a:t>
            </a:r>
            <a:r>
              <a:rPr lang="en-GB" sz="2400" b="1">
                <a:solidFill>
                  <a:srgbClr val="1E1B4B"/>
                </a:solidFill>
                <a:latin typeface="Poppins"/>
              </a:rPr>
              <a:t>StudiFyX</a:t>
            </a:r>
            <a:endParaRPr sz="2400" b="1" i="0" u="none">
              <a:solidFill>
                <a:srgbClr val="1E1B4B"/>
              </a:solidFill>
              <a:latin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89385"/>
            <a:ext cx="3657600" cy="178534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200" y="1989385"/>
            <a:ext cx="3657600" cy="178534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1989385"/>
            <a:ext cx="3657600" cy="178534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927127"/>
            <a:ext cx="3657600" cy="178534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200" y="3927127"/>
            <a:ext cx="3657600" cy="178534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7200" y="3927127"/>
            <a:ext cx="3657600" cy="178534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67887" y="361950"/>
            <a:ext cx="1966912" cy="2381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5" y="2189410"/>
            <a:ext cx="419100" cy="4191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8175" y="2798415"/>
            <a:ext cx="346043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u="none">
                <a:solidFill>
                  <a:srgbClr val="0F172A"/>
                </a:solidFill>
                <a:latin typeface="Poppins"/>
              </a:rPr>
              <a:t>First Integrated Ecosystem</a:t>
            </a:r>
            <a:endParaRPr lang="en-US" sz="140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8175" y="3074640"/>
            <a:ext cx="3295650" cy="500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100" b="0" i="0" u="none">
                <a:solidFill>
                  <a:srgbClr val="475569"/>
                </a:solidFill>
                <a:latin typeface="Inter"/>
              </a:rPr>
              <a:t>Only platform combining degree mapping, skill-gap analysis, mentor validation, and study wellbeing in a single unified system.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48175" y="2189410"/>
            <a:ext cx="419100" cy="419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448175" y="2798415"/>
            <a:ext cx="346043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u="none">
                <a:solidFill>
                  <a:srgbClr val="0F172A"/>
                </a:solidFill>
                <a:latin typeface="Poppins"/>
              </a:rPr>
              <a:t>Backward Career Chaining</a:t>
            </a:r>
            <a:endParaRPr lang="en-US" sz="140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48175" y="3074640"/>
            <a:ext cx="3295650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100" b="0" i="0" u="none">
                <a:solidFill>
                  <a:srgbClr val="475569"/>
                </a:solidFill>
                <a:latin typeface="Inter"/>
              </a:rPr>
              <a:t>Reverses traditional academic matching by starting from dream career goals and mapping required degrees and universities.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58175" y="2189410"/>
            <a:ext cx="419100" cy="4191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58175" y="2798415"/>
            <a:ext cx="346043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u="none">
                <a:solidFill>
                  <a:srgbClr val="0F172A"/>
                </a:solidFill>
                <a:latin typeface="Poppins"/>
              </a:rPr>
              <a:t>Mathematical SGI Metric</a:t>
            </a:r>
            <a:endParaRPr lang="en-US" sz="140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58175" y="3074640"/>
            <a:ext cx="3295650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100" b="0" i="0" u="none">
                <a:solidFill>
                  <a:srgbClr val="475569"/>
                </a:solidFill>
                <a:latin typeface="Inter"/>
              </a:rPr>
              <a:t>Quantifies exact semantic competency distances using Cosine Similarity and Neo4j dynamic knowledge graph ontologies.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175" y="4127152"/>
            <a:ext cx="419100" cy="4191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8175" y="4736157"/>
            <a:ext cx="346043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u="none">
                <a:solidFill>
                  <a:srgbClr val="0F172A"/>
                </a:solidFill>
                <a:latin typeface="Poppins"/>
              </a:rPr>
              <a:t>Automated Trust Auditing</a:t>
            </a:r>
            <a:endParaRPr lang="en-US" sz="140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8175" y="5012382"/>
            <a:ext cx="3295650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100" b="0" i="0" u="none">
                <a:solidFill>
                  <a:srgbClr val="475569"/>
                </a:solidFill>
                <a:latin typeface="Inter"/>
              </a:rPr>
              <a:t>Eliminates unverified advice through OCR CV extraction and automated interview scoring to assign certified mentor badges.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48175" y="4127152"/>
            <a:ext cx="419100" cy="4191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448175" y="4736157"/>
            <a:ext cx="346043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u="none">
                <a:solidFill>
                  <a:srgbClr val="0F172A"/>
                </a:solidFill>
                <a:latin typeface="Poppins"/>
              </a:rPr>
              <a:t>Bio-Adaptive Wellbeing AI</a:t>
            </a:r>
            <a:endParaRPr lang="en-US" sz="140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448175" y="5012382"/>
            <a:ext cx="3295650" cy="5000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100" b="0" i="0" u="none">
                <a:solidFill>
                  <a:srgbClr val="475569"/>
                </a:solidFill>
                <a:latin typeface="Inter"/>
              </a:rPr>
              <a:t>Prevents student burnout by dynamically adjusting study sessions using Random Forest AI (94.5% accuracy) and telemetry.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58175" y="4127152"/>
            <a:ext cx="419100" cy="4191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58175" y="4736157"/>
            <a:ext cx="346043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u="none">
                <a:solidFill>
                  <a:srgbClr val="0F172A"/>
                </a:solidFill>
                <a:latin typeface="Poppins"/>
              </a:rPr>
              <a:t>Sri Lankan Localization</a:t>
            </a:r>
            <a:endParaRPr lang="en-US" sz="140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58175" y="5012382"/>
            <a:ext cx="329565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1100" b="0" i="0" u="none">
                <a:solidFill>
                  <a:srgbClr val="475569"/>
                </a:solidFill>
                <a:latin typeface="Inter"/>
              </a:rPr>
              <a:t>Includes trilingual support (English, Sinhala, Tamil), Singlish preprocessing, and national Z-score cutoffs.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61950"/>
            <a:ext cx="112776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4F46E5"/>
                </a:solidFill>
                <a:latin typeface="Inter"/>
              </a:rPr>
              <a:t>R26-IT-073 • INNOVATION &amp; UNIQUENESS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830063"/>
            <a:ext cx="1173480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0F172A"/>
                </a:solidFill>
                <a:latin typeface="Poppins"/>
              </a:rPr>
              <a:t>Design Excellence &amp; Unique Research Value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736214"/>
              </p:ext>
            </p:extLst>
          </p:nvPr>
        </p:nvGraphicFramePr>
        <p:xfrm>
          <a:off x="467590" y="2066636"/>
          <a:ext cx="11316791" cy="33948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1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3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4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97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721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1E293B"/>
                          </a:solidFill>
                          <a:latin typeface="Poppins"/>
                        </a:rPr>
                        <a:t>Sub-System Component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1E293B"/>
                          </a:solidFill>
                          <a:latin typeface="Poppins"/>
                        </a:rPr>
                        <a:t>Lead Member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1E293B"/>
                          </a:solidFill>
                          <a:latin typeface="Poppins"/>
                        </a:rPr>
                        <a:t>Key Technology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1E293B"/>
                          </a:solidFill>
                          <a:latin typeface="Poppins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9711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334155"/>
                          </a:solidFill>
                          <a:latin typeface="Inter"/>
                        </a:rPr>
                        <a:t>Dream Degree Advisor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u="none" err="1">
                          <a:solidFill>
                            <a:srgbClr val="334155"/>
                          </a:solidFill>
                          <a:latin typeface="Inter"/>
                        </a:rPr>
                        <a:t>Rusiru</a:t>
                      </a:r>
                      <a:r>
                        <a:rPr lang="en-US"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 L.W.S (IT22220288)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Degrees and Universities Recommendation, Backward</a:t>
                      </a:r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 Chaining &amp; </a:t>
                      </a:r>
                      <a:r>
                        <a:rPr lang="en-GB"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Multi-Parameter Rankings</a:t>
                      </a:r>
                      <a:endParaRPr sz="1400" b="0" i="0" u="none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Completed / Integrated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21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334155"/>
                          </a:solidFill>
                          <a:latin typeface="Inter"/>
                        </a:rPr>
                        <a:t>Career &amp; Skill-Gap Analyzer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u="none" err="1">
                          <a:solidFill>
                            <a:srgbClr val="334155"/>
                          </a:solidFill>
                          <a:latin typeface="Inter"/>
                        </a:rPr>
                        <a:t>Wickremathilaka</a:t>
                      </a:r>
                      <a:r>
                        <a:rPr lang="en-US"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 J.A (IT22152114)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Stacking Ensemble &amp; Cosine SGI Formula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Completed / Integrated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21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334155"/>
                          </a:solidFill>
                          <a:latin typeface="Inter"/>
                        </a:rPr>
                        <a:t>Mentorship &amp; Alumni Network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u="none" err="1">
                          <a:solidFill>
                            <a:srgbClr val="334155"/>
                          </a:solidFill>
                          <a:latin typeface="Inter"/>
                        </a:rPr>
                        <a:t>Mahikalpa</a:t>
                      </a:r>
                      <a:r>
                        <a:rPr lang="en-US"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 K.B.V.I (IT22150370)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OCR CV Parsing &amp; Automated Interview AI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Completed / Integrated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981">
                <a:tc>
                  <a:txBody>
                    <a:bodyPr/>
                    <a:lstStyle/>
                    <a:p>
                      <a:pPr algn="l"/>
                      <a:r>
                        <a:rPr sz="1400" b="1" i="0" u="none">
                          <a:solidFill>
                            <a:srgbClr val="334155"/>
                          </a:solidFill>
                          <a:latin typeface="Inter"/>
                        </a:rPr>
                        <a:t>Smart Study &amp; Stress AI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Withanage D.K (IT22094636)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Random Forest Workload &amp; Stress Estimator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>
                          <a:solidFill>
                            <a:srgbClr val="334155"/>
                          </a:solidFill>
                          <a:latin typeface="Inter"/>
                        </a:rPr>
                        <a:t>Completed / Integrated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0062" y="3472308"/>
            <a:ext cx="27015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1590" y="3472308"/>
            <a:ext cx="28612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62811" y="3478081"/>
            <a:ext cx="3554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617273" y="3472308"/>
            <a:ext cx="20746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5426" y="4898402"/>
            <a:ext cx="27015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045726" y="4898402"/>
            <a:ext cx="28612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57038" y="4892629"/>
            <a:ext cx="3554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611500" y="4886856"/>
            <a:ext cx="20746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0062" y="4373314"/>
            <a:ext cx="27015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201590" y="4373314"/>
            <a:ext cx="286122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62811" y="4373314"/>
            <a:ext cx="355446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17273" y="4373314"/>
            <a:ext cx="20746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5300" y="814312"/>
            <a:ext cx="9409144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E1B4B"/>
                </a:solidFill>
                <a:latin typeface="Poppins"/>
              </a:rPr>
              <a:t>Component Integration &amp; Readiness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8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71" y="2501651"/>
            <a:ext cx="5486400" cy="241071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2501651"/>
            <a:ext cx="5486400" cy="24107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7750" y="2760641"/>
            <a:ext cx="4930616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400" b="1" i="0" u="none">
                <a:solidFill>
                  <a:srgbClr val="4F46E5"/>
                </a:solidFill>
                <a:latin typeface="Poppins"/>
              </a:rPr>
              <a:t>Target Market Size</a:t>
            </a:r>
            <a:endParaRPr lang="en-US" sz="1400" b="1" i="0" u="none">
              <a:solidFill>
                <a:srgbClr val="4F46E5"/>
              </a:solidFill>
              <a:latin typeface="Poppins"/>
              <a:cs typeface="Poppi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15125" y="2760641"/>
            <a:ext cx="498062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400" b="1" i="0" u="none">
                <a:solidFill>
                  <a:srgbClr val="4F46E5"/>
                </a:solidFill>
                <a:latin typeface="Poppins"/>
              </a:rPr>
              <a:t>Sustainable Revenue Streams</a:t>
            </a:r>
            <a:endParaRPr lang="en-US" sz="1400" b="1" i="0" u="none">
              <a:solidFill>
                <a:srgbClr val="4F46E5"/>
              </a:solidFill>
              <a:latin typeface="Poppins"/>
              <a:cs typeface="Poppins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2782639"/>
            <a:ext cx="219075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0125" y="3130301"/>
            <a:ext cx="4743450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n-US" sz="1400" b="1" i="0" u="none">
                <a:solidFill>
                  <a:srgbClr val="334155"/>
                </a:solidFill>
                <a:latin typeface="Inter"/>
              </a:rPr>
              <a:t>250,000+ A/L Students:</a:t>
            </a:r>
            <a:r>
              <a:rPr lang="en-US" sz="1400" b="0" i="0" u="none">
                <a:solidFill>
                  <a:srgbClr val="334155"/>
                </a:solidFill>
                <a:latin typeface="Inter"/>
              </a:rPr>
              <a:t> Seeking annual university &amp; degree guidance.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572380"/>
            <a:ext cx="474345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400" b="1">
                <a:latin typeface="Inter"/>
              </a:rPr>
              <a:t>Students &amp; Any Career Seekers:</a:t>
            </a:r>
            <a:r>
              <a:rPr lang="en-US" sz="1400">
                <a:latin typeface="Inter"/>
              </a:rPr>
              <a:t> Undergraduates, job hunters.</a:t>
            </a:r>
            <a:endParaRPr lang="en-US" sz="1400" b="0" i="0" u="none">
              <a:solidFill>
                <a:srgbClr val="334155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0125" y="4107961"/>
            <a:ext cx="4743450" cy="4103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n-US" sz="1400" b="1" i="0" u="none">
                <a:solidFill>
                  <a:srgbClr val="334155"/>
                </a:solidFill>
                <a:latin typeface="Inter"/>
              </a:rPr>
              <a:t>Trilingual Reach:</a:t>
            </a:r>
            <a:r>
              <a:rPr lang="en-US" sz="1400" b="0" i="0" u="none">
                <a:solidFill>
                  <a:srgbClr val="334155"/>
                </a:solidFill>
                <a:latin typeface="Inter"/>
              </a:rPr>
              <a:t> Fully localized for Sinhala, Tamil, and English users.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8425" y="2782639"/>
            <a:ext cx="171450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15125" y="3130301"/>
            <a:ext cx="4743450" cy="399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n-US" sz="1200" b="1" i="0" u="none">
                <a:solidFill>
                  <a:srgbClr val="334155"/>
                </a:solidFill>
                <a:latin typeface="Inter"/>
              </a:rPr>
              <a:t>B2B University Licensing:</a:t>
            </a:r>
            <a:r>
              <a:rPr lang="en-US" sz="1200" b="0" i="0" u="none">
                <a:solidFill>
                  <a:srgbClr val="334155"/>
                </a:solidFill>
                <a:latin typeface="Inter"/>
              </a:rPr>
              <a:t> Curriculum gap analytics dashboard for higher education.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15125" y="3644949"/>
            <a:ext cx="474345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n-US" sz="1200" b="1" i="0" u="none">
                <a:solidFill>
                  <a:srgbClr val="334155"/>
                </a:solidFill>
                <a:latin typeface="Inter"/>
              </a:rPr>
              <a:t>Freemium &amp; Micro-Reports:</a:t>
            </a:r>
            <a:r>
              <a:rPr lang="en-US" sz="1200" b="0" i="0" u="none">
                <a:solidFill>
                  <a:srgbClr val="334155"/>
                </a:solidFill>
                <a:latin typeface="Inter"/>
              </a:rPr>
              <a:t> Free core features with 450–750 LKR deep-dive reports.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4159597"/>
            <a:ext cx="4743450" cy="4003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6"/>
              </a:lnSpc>
            </a:pPr>
            <a:r>
              <a:rPr lang="en-US" sz="1200" b="1" i="0" u="none">
                <a:solidFill>
                  <a:srgbClr val="334155"/>
                </a:solidFill>
                <a:latin typeface="Inter"/>
              </a:rPr>
              <a:t>Verified Mentor Ecosystem:</a:t>
            </a:r>
            <a:r>
              <a:rPr lang="en-US" sz="1200" b="0" i="0" u="none">
                <a:solidFill>
                  <a:srgbClr val="334155"/>
                </a:solidFill>
                <a:latin typeface="Inter"/>
              </a:rPr>
              <a:t> Premium counseling sessions &amp; institutional training links</a:t>
            </a:r>
            <a:r>
              <a:rPr lang="en-US" sz="1050" b="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3158876"/>
            <a:ext cx="123825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425" y="3644949"/>
            <a:ext cx="123825" cy="1428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965" y="4149424"/>
            <a:ext cx="123825" cy="1428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3158876"/>
            <a:ext cx="123825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3673524"/>
            <a:ext cx="123825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8425" y="4188172"/>
            <a:ext cx="123825" cy="1428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06271" y="1001431"/>
            <a:ext cx="9409144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E1B4B"/>
                </a:solidFill>
                <a:latin typeface="Poppins"/>
              </a:rPr>
              <a:t>Market Opportunity &amp; Sustainability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D598DC-E7C8-8A46-296F-67862A24EBB6}"/>
              </a:ext>
            </a:extLst>
          </p:cNvPr>
          <p:cNvSpPr txBox="1"/>
          <p:nvPr/>
        </p:nvSpPr>
        <p:spPr>
          <a:xfrm>
            <a:off x="234115" y="184429"/>
            <a:ext cx="62143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u="none">
                <a:solidFill>
                  <a:srgbClr val="4F46E5"/>
                </a:solidFill>
                <a:latin typeface="Inter"/>
              </a:rPr>
              <a:t>R26-IT-073 • COMMERCIALIZATION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65300"/>
            <a:ext cx="3632150" cy="287595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rcRect l="1729" t="4000" r="1271" b="3273"/>
          <a:stretch>
            <a:fillRect/>
          </a:stretch>
        </p:blipFill>
        <p:spPr>
          <a:xfrm>
            <a:off x="4342480" y="2279893"/>
            <a:ext cx="3523197" cy="266678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2500" y="2165300"/>
            <a:ext cx="3632299" cy="287595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5174605"/>
            <a:ext cx="11277600" cy="361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527125" y="5278636"/>
            <a:ext cx="179070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b="0" i="0" u="none">
                <a:solidFill>
                  <a:srgbClr val="3730A3"/>
                </a:solidFill>
                <a:latin typeface="Inter SemiBold"/>
              </a:rPr>
              <a:t>Targeted IT Course &amp; Job 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62376" y="5279380"/>
            <a:ext cx="219075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b="0" i="0" u="none">
                <a:solidFill>
                  <a:srgbClr val="3730A3"/>
                </a:solidFill>
                <a:latin typeface="Inter SemiBold"/>
              </a:rPr>
              <a:t>Verified Mentor Session Commission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88151" y="5279380"/>
            <a:ext cx="2076450" cy="152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1000" b="0" i="0" u="none">
                <a:solidFill>
                  <a:srgbClr val="3730A3"/>
                </a:solidFill>
                <a:latin typeface="Inter SemiBold"/>
              </a:rPr>
              <a:t>Industry Talent Insights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7225" y="4660255"/>
            <a:ext cx="32321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0" i="0" u="none">
                <a:solidFill>
                  <a:srgbClr val="64748B"/>
                </a:solidFill>
                <a:latin typeface="Inter Medium"/>
              </a:rPr>
              <a:t>For general school leavers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6124" y="2051000"/>
            <a:ext cx="866775" cy="123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87" b="1" i="0" u="none">
                <a:solidFill>
                  <a:srgbClr val="FFFFFF"/>
                </a:solidFill>
                <a:latin typeface="Inter"/>
              </a:rPr>
              <a:t>MOST POPULAR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525" y="4660255"/>
            <a:ext cx="3232249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0" i="0" u="none">
                <a:solidFill>
                  <a:srgbClr val="64748B"/>
                </a:solidFill>
                <a:latin typeface="Inter Medium"/>
              </a:rPr>
              <a:t>For universities &amp; institutes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7100" y="5293667"/>
            <a:ext cx="123825" cy="1238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3776" y="5293667"/>
            <a:ext cx="152400" cy="1238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9076" y="5293667"/>
            <a:ext cx="142875" cy="1238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57225" y="2593925"/>
            <a:ext cx="339370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Basic (Freemium)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225" y="2860625"/>
            <a:ext cx="32321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4F46E5"/>
                </a:solidFill>
                <a:latin typeface="Inter"/>
              </a:rPr>
              <a:t>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775" y="3241625"/>
            <a:ext cx="3022550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1050" b="0" i="0" u="none">
                <a:solidFill>
                  <a:srgbClr val="475569"/>
                </a:solidFill>
                <a:latin typeface="Inter"/>
              </a:rPr>
              <a:t>Backward Dream Degree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6775" y="3491061"/>
            <a:ext cx="3022550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1050" b="0" i="0" u="none">
                <a:solidFill>
                  <a:srgbClr val="475569"/>
                </a:solidFill>
                <a:latin typeface="Inter"/>
              </a:rPr>
              <a:t>High-level Career Path 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6775" y="3740497"/>
            <a:ext cx="3022550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1050" b="0" i="0" u="none">
                <a:solidFill>
                  <a:srgbClr val="475569"/>
                </a:solidFill>
                <a:latin typeface="Inter"/>
              </a:rPr>
              <a:t>General university entry cutoffs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775" y="3989933"/>
            <a:ext cx="3022550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1050" b="0" i="0" u="none">
                <a:solidFill>
                  <a:srgbClr val="475569"/>
                </a:solidFill>
                <a:latin typeface="Inter"/>
              </a:rPr>
              <a:t>Community mentor directory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9400" y="2603450"/>
            <a:ext cx="337370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Pro Student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9400" y="2870150"/>
            <a:ext cx="32130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4F46E5"/>
                </a:solidFill>
                <a:latin typeface="Inter"/>
              </a:rPr>
              <a:t>450 - 750 LKR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8950" y="3251150"/>
            <a:ext cx="3003500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1050" b="0" i="0" u="none">
                <a:solidFill>
                  <a:srgbClr val="475569"/>
                </a:solidFill>
                <a:latin typeface="Inter"/>
              </a:rPr>
              <a:t>All Basic features included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8950" y="3500586"/>
            <a:ext cx="3003500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1050" b="0" i="0" u="none">
                <a:solidFill>
                  <a:srgbClr val="475569"/>
                </a:solidFill>
                <a:latin typeface="Inter"/>
              </a:rPr>
              <a:t>Full SGI Skill-Gap breakdown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8950" y="3750022"/>
            <a:ext cx="3003500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1050" b="0" i="0" u="none">
                <a:solidFill>
                  <a:srgbClr val="475569"/>
                </a:solidFill>
                <a:latin typeface="Inter"/>
              </a:rPr>
              <a:t>Neo4j prescriptive learning roadmap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8950" y="3999458"/>
            <a:ext cx="3003500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1050" b="0" i="0" u="none">
                <a:solidFill>
                  <a:srgbClr val="475569"/>
                </a:solidFill>
                <a:latin typeface="Inter"/>
              </a:rPr>
              <a:t>Bio-Adaptive Pomodoro &amp; study planner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8950" y="4248894"/>
            <a:ext cx="3003500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1050" b="0" i="0" u="none">
                <a:solidFill>
                  <a:srgbClr val="475569"/>
                </a:solidFill>
                <a:latin typeface="Inter"/>
              </a:rPr>
              <a:t>Downloadable readiness PDF report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525" y="2593925"/>
            <a:ext cx="339386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Institutional / B2B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02525" y="2860625"/>
            <a:ext cx="323224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4F46E5"/>
                </a:solidFill>
                <a:latin typeface="Inter"/>
              </a:rPr>
              <a:t>Annual License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12075" y="3241625"/>
            <a:ext cx="3022699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1050" b="0" i="0" u="none">
                <a:solidFill>
                  <a:srgbClr val="475569"/>
                </a:solidFill>
                <a:latin typeface="Inter"/>
              </a:rPr>
              <a:t>University career guidance portal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12075" y="3491061"/>
            <a:ext cx="3022699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1050" b="0" i="0" u="none">
                <a:solidFill>
                  <a:srgbClr val="475569"/>
                </a:solidFill>
                <a:latin typeface="Inter"/>
              </a:rPr>
              <a:t>Cohort-wide skill deficit analytics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12075" y="3740497"/>
            <a:ext cx="3022699" cy="173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1050" b="0" i="0" u="none">
                <a:solidFill>
                  <a:srgbClr val="475569"/>
                </a:solidFill>
                <a:latin typeface="Inter"/>
              </a:rPr>
              <a:t>Verified mentor verification portal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" y="3265437"/>
            <a:ext cx="104775" cy="1333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" y="3514873"/>
            <a:ext cx="104775" cy="1333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" y="3764309"/>
            <a:ext cx="104775" cy="1333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7225" y="4013745"/>
            <a:ext cx="104775" cy="1333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9400" y="3274962"/>
            <a:ext cx="104775" cy="1333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9400" y="3524398"/>
            <a:ext cx="104775" cy="1333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9400" y="3773834"/>
            <a:ext cx="104775" cy="1333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9400" y="4023270"/>
            <a:ext cx="104775" cy="1333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9400" y="4272706"/>
            <a:ext cx="104775" cy="1333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2525" y="3265437"/>
            <a:ext cx="104775" cy="13335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2525" y="3514873"/>
            <a:ext cx="104775" cy="13335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2525" y="3764309"/>
            <a:ext cx="104775" cy="13335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257174" y="254876"/>
            <a:ext cx="11277600" cy="2381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4F46E5"/>
                </a:solidFill>
                <a:latin typeface="Inter"/>
              </a:rPr>
              <a:t>R26-IT-073 • COMMERCIALIZATION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714375"/>
            <a:ext cx="11734800" cy="319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200" b="1" i="0" u="none">
                <a:solidFill>
                  <a:srgbClr val="0F172A"/>
                </a:solidFill>
                <a:latin typeface="Poppins"/>
              </a:rPr>
              <a:t>Commercialization &amp; Service Model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955DCF0-F303-AF1E-BAB1-CC4C8E2A02BC}"/>
              </a:ext>
            </a:extLst>
          </p:cNvPr>
          <p:cNvSpPr txBox="1"/>
          <p:nvPr/>
        </p:nvSpPr>
        <p:spPr>
          <a:xfrm>
            <a:off x="296126" y="1228468"/>
            <a:ext cx="9622523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/>
              <a:t>The proposed system can be commercialized through a three-tier service model.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3061394"/>
            <a:ext cx="2686050" cy="13864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0" y="3061394"/>
            <a:ext cx="2686050" cy="138648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061394"/>
            <a:ext cx="2686050" cy="138648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650" y="3061394"/>
            <a:ext cx="2686050" cy="138648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8170" y="3470969"/>
            <a:ext cx="248031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 b="1" i="0" u="none">
                <a:solidFill>
                  <a:srgbClr val="0F172A"/>
                </a:solidFill>
                <a:latin typeface="Poppins"/>
              </a:rPr>
              <a:t>1. Degree Adviser</a:t>
            </a:r>
            <a:endParaRPr lang="en-US" sz="120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7225" y="3747194"/>
            <a:ext cx="2362200" cy="5292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1100" b="0" i="0" u="none">
                <a:solidFill>
                  <a:srgbClr val="475569"/>
                </a:solidFill>
                <a:latin typeface="Inter"/>
              </a:rPr>
              <a:t>Input A/L results &amp; dream goal to observe backward-chained degree recommendations.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5675" y="3365647"/>
            <a:ext cx="248031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 b="1" i="0" u="none">
                <a:solidFill>
                  <a:srgbClr val="0F172A"/>
                </a:solidFill>
                <a:latin typeface="Poppins"/>
              </a:rPr>
              <a:t>2. Career path &amp;Skill Gap                  Analyzer</a:t>
            </a:r>
            <a:endParaRPr lang="en-US" sz="1200" b="1" i="0" u="none">
              <a:solidFill>
                <a:srgbClr val="0F172A"/>
              </a:solidFill>
              <a:latin typeface="Poppins"/>
              <a:cs typeface="Poppi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95675" y="3747194"/>
            <a:ext cx="2362200" cy="348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364"/>
              </a:lnSpc>
            </a:pPr>
            <a:r>
              <a:rPr lang="en-US" sz="1100" b="0" i="0" u="none">
                <a:solidFill>
                  <a:srgbClr val="475569"/>
                </a:solidFill>
                <a:latin typeface="Inter"/>
              </a:rPr>
              <a:t>View SGI score and interactive skill roadmap powered by Neo4j graph.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4125" y="3286303"/>
            <a:ext cx="248031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 b="1" i="0" u="none">
                <a:latin typeface="Poppins" panose="00000500000000000000" pitchFamily="2" charset="0"/>
                <a:cs typeface="Poppins" panose="00000500000000000000" pitchFamily="2" charset="0"/>
              </a:rPr>
              <a:t>3. </a:t>
            </a:r>
            <a:r>
              <a:rPr lang="en-US" sz="1200" b="1">
                <a:latin typeface="Poppins" panose="00000500000000000000" pitchFamily="2" charset="0"/>
                <a:ea typeface="Cambria"/>
                <a:cs typeface="Poppins" panose="00000500000000000000" pitchFamily="2" charset="0"/>
              </a:rPr>
              <a:t>Professional Mentorship and Alumni Network</a:t>
            </a:r>
            <a:endParaRPr lang="en-US" sz="1200" b="1" i="0" u="none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34125" y="3747194"/>
            <a:ext cx="2362200" cy="351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1100" b="0" i="0" u="none">
                <a:solidFill>
                  <a:srgbClr val="475569"/>
                </a:solidFill>
                <a:latin typeface="Inter"/>
              </a:rPr>
              <a:t>Demonstrate live CV OCR parsing and badge-tier verification matching.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2575" y="3286303"/>
            <a:ext cx="248031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b="1" i="0" u="none">
                <a:latin typeface="Poppins"/>
              </a:rPr>
              <a:t>4. </a:t>
            </a:r>
            <a:r>
              <a:rPr lang="en-US" sz="1200" b="1">
                <a:ea typeface="+mn-lt"/>
                <a:cs typeface="+mn-lt"/>
              </a:rPr>
              <a:t>Real-time Stress Management And Mental Wellbeing</a:t>
            </a:r>
            <a:endParaRPr lang="en-US" sz="1200" b="1">
              <a:ea typeface="Cambria"/>
            </a:endParaRPr>
          </a:p>
          <a:p>
            <a:pPr algn="l"/>
            <a:endParaRPr lang="en-US" sz="1200" b="1" i="0" u="none">
              <a:latin typeface="Poppins"/>
              <a:cs typeface="Poppi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72575" y="3747194"/>
            <a:ext cx="2362200" cy="3480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1100" b="0" i="0" u="none">
                <a:solidFill>
                  <a:srgbClr val="475569"/>
                </a:solidFill>
                <a:latin typeface="Inter"/>
              </a:rPr>
              <a:t>Simulate workload inputs to trigger real-time adaptive study schedule balancing.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5300" y="1379635"/>
            <a:ext cx="9409144" cy="365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1E1B4B"/>
                </a:solidFill>
                <a:latin typeface="Poppins"/>
              </a:rPr>
              <a:t>Live Demo Evaluation Roadmap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859021" y="2900088"/>
            <a:ext cx="6473958" cy="6232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4050" b="1">
                <a:solidFill>
                  <a:srgbClr val="0F172A"/>
                </a:solidFill>
                <a:latin typeface="Poppins"/>
              </a:rPr>
              <a:t>Thank You.</a:t>
            </a:r>
            <a:endParaRPr sz="4050" b="1" i="0" u="none">
              <a:solidFill>
                <a:srgbClr val="0F172A"/>
              </a:solidFill>
              <a:latin typeface="Poppins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3</cp:revision>
  <dcterms:created xsi:type="dcterms:W3CDTF">2013-01-27T09:14:16Z</dcterms:created>
  <dcterms:modified xsi:type="dcterms:W3CDTF">2026-09-02T04:07:08Z</dcterms:modified>
  <cp:category/>
</cp:coreProperties>
</file>